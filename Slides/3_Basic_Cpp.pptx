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7C11DA-5462-4E43-8A42-9D32502147C8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E94E0-4A6A-4EC0-9675-ACE14F3CD4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70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		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1E94E0-4A6A-4EC0-9675-ACE14F3CD4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45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370DE-D848-C971-66D6-CE92D0BB8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43A4D3-991F-7DC5-3BB3-BBED95FB2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1326B-ADC6-3C10-D4CE-129B3C354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089E-0FCE-4EC0-999D-6D50DA80667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0D5C4-804D-5846-AE73-BA3C08A3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3BE3F-AF44-5ACD-FA3B-747D09419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C7C6-DC36-45C0-B3C2-0DCF9BCA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79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804FE-8C20-0580-DA61-834D3697B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D243-CF88-2EB7-D48F-2059F8784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42F41-2A15-5EB0-E22F-CBE936B35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089E-0FCE-4EC0-999D-6D50DA80667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E6A22-53D4-EFDC-C7FE-D61F2E2EA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1A8EA-8E43-9F38-98C6-1FB60018B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C7C6-DC36-45C0-B3C2-0DCF9BCA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6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AE1C-2DB5-723E-8039-CFC5B84E5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32698-7FCA-F415-0F39-F46B67D9A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18540-8C0C-7FA9-902C-79F1CFB4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089E-0FCE-4EC0-999D-6D50DA80667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43B08-E542-257A-7AB8-75B03F548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AB601-9305-A7C7-4B67-EC4A161DA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C7C6-DC36-45C0-B3C2-0DCF9BCA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671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6D9B8-72B6-1BC1-3714-F51C96E9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829E0-0923-3CD8-E93B-638BA3DCC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D2727-DF95-AE22-04AE-1FA2C861E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63796-AB38-52E8-B660-9CC4CCC86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089E-0FCE-4EC0-999D-6D50DA80667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B44A0-F2D2-6898-A327-75144BBB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0D5D2-DCDE-1D44-C128-EDDFCE5CF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C7C6-DC36-45C0-B3C2-0DCF9BCA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7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CC6B-93C6-A7E3-BBA8-F131CA0F1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35CB3-4912-5961-F1AB-76504F655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238326-D55B-5715-459C-9B45196C0E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7D3DA1-980B-013B-8EC9-A5F771A2C9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A1A642-ADAC-5920-7D8D-930B25138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0CD56A-2BC0-1B5D-481D-B58E144F3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089E-0FCE-4EC0-999D-6D50DA80667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F4479D-DABE-9D00-971F-5A0847578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ADE4B5-DEB0-9C76-5C52-815D4D48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C7C6-DC36-45C0-B3C2-0DCF9BCA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40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56D2-03D6-A094-6C27-2E3A5F03D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AC6617-5E1E-D7BF-7DA9-EEFC82B39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089E-0FCE-4EC0-999D-6D50DA80667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63621A-08BA-FF7E-0B34-9C7E9C5F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737094-7224-1C24-1027-537463067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C7C6-DC36-45C0-B3C2-0DCF9BCA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02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6C0545-28C6-2EF8-6BF3-9E013F80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089E-0FCE-4EC0-999D-6D50DA80667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0B0BFE-DD2E-0F81-5B6D-3EE9609D7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92ADD-52CF-5D47-820A-03A29FD94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C7C6-DC36-45C0-B3C2-0DCF9BCA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477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940FF-538D-B20C-0535-B5AC3644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54628-8349-0E42-5249-D01B22325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01671-2576-3D49-67FF-92D7609F3D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14E583-3E07-784E-A849-78366C5F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089E-0FCE-4EC0-999D-6D50DA80667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397F2-AD23-CBFD-0A0A-D979BE85A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E636B-54FD-B85D-B949-C803FE5E7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C7C6-DC36-45C0-B3C2-0DCF9BCA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75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92F08-110F-9059-4332-D3C059050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5578DB-B15E-C174-F2A8-12E1F644D5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4BCCD-B5C9-74BF-97D0-6E83657F9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3E241C-53B9-FA4F-9021-E98F2B76C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089E-0FCE-4EC0-999D-6D50DA80667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E0616-3F21-31E2-6B08-9E7545D7A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9D2C2C-9E8E-71AC-3F91-D2362118E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C7C6-DC36-45C0-B3C2-0DCF9BCA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29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3562E-3065-77D0-ED4A-C5557FF86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75E99D-8D31-298C-E773-F02BDB562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C0DF4-DAA9-7B9D-A222-A0ECB5E0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089E-0FCE-4EC0-999D-6D50DA80667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FA00D-D2D9-E6D6-0FBF-8C1721BDB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3FFEF-BF59-7820-46CA-B6100C28C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C7C6-DC36-45C0-B3C2-0DCF9BCA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55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E4801F-956A-3EF3-58EF-8C6B3FDED0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0D7355-B0B8-3E86-7097-006CAFB59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8A80A-ABFA-9529-9D36-6793B692E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F089E-0FCE-4EC0-999D-6D50DA80667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804DC-C72A-EB65-ADF1-B364A0153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DAE1D-5A92-7FB9-540D-4D43F61E7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C7C6-DC36-45C0-B3C2-0DCF9BCA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143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9D8383-20C7-6724-F6AA-2CAA01334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7375AB-E202-C963-57EA-F0DD08348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822D0-59AC-E9BD-2951-1B538810D3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F089E-0FCE-4EC0-999D-6D50DA806671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20C2E-D14F-ECE7-FA3D-871B8CD77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39C3A-7F31-6802-BBBE-FE147BAD1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9C7C6-DC36-45C0-B3C2-0DCF9BCA4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58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C450E-3E9B-1351-90B3-723D168FDB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796" y="2235200"/>
            <a:ext cx="10014408" cy="1193800"/>
          </a:xfrm>
        </p:spPr>
        <p:txBody>
          <a:bodyPr>
            <a:no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Structure of a C++ Program</a:t>
            </a:r>
          </a:p>
        </p:txBody>
      </p:sp>
    </p:spTree>
    <p:extLst>
      <p:ext uri="{BB962C8B-B14F-4D97-AF65-F5344CB8AC3E}">
        <p14:creationId xmlns:p14="http://schemas.microsoft.com/office/powerpoint/2010/main" val="4253603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FC359-98AB-96E5-DE2C-DE635EB63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72894"/>
            <a:ext cx="10515600" cy="1067749"/>
          </a:xfrm>
        </p:spPr>
        <p:txBody>
          <a:bodyPr>
            <a:normAutofit/>
          </a:bodyPr>
          <a:lstStyle/>
          <a:p>
            <a:pPr algn="ctr"/>
            <a:r>
              <a:rPr lang="vi-VN" sz="4800" dirty="0"/>
              <a:t>The structure of C++ program</a:t>
            </a:r>
            <a:endParaRPr lang="en-US" sz="4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32FD26-18BF-7D61-5B16-C3CB2FEB9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6911" y="2388134"/>
            <a:ext cx="6334484" cy="22215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867749-F5A3-451B-C2E6-B6D721C5EFE2}"/>
              </a:ext>
            </a:extLst>
          </p:cNvPr>
          <p:cNvSpPr txBox="1"/>
          <p:nvPr/>
        </p:nvSpPr>
        <p:spPr>
          <a:xfrm>
            <a:off x="122548" y="1010245"/>
            <a:ext cx="5684363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Libraries inclusion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 &lt;iostream&gt;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): When referring specifically to including libraries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Namespace Declaration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namespace std;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): A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namespace declaration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tells the compiler which group of names (like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etc.) the program is using.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Comment Section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 or /* ... */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): Used to describe code and make it easier to understand. They are ignored by the compiler.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Main Function Declaration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main(void)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): The entry point of every C++ program. Execution starts from here.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Function Body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(Statements) (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cout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&lt;&lt; "Hello world" &lt;&lt;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endl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): Contains the actual instructions to be executed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Return Statement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0;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): Ends the program and returns 0 to indicate successful execution to the operating system.</a:t>
            </a:r>
          </a:p>
        </p:txBody>
      </p:sp>
    </p:spTree>
    <p:extLst>
      <p:ext uri="{BB962C8B-B14F-4D97-AF65-F5344CB8AC3E}">
        <p14:creationId xmlns:p14="http://schemas.microsoft.com/office/powerpoint/2010/main" val="38464473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81053-A858-3379-6F93-4344D5424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Data type and variable in C++</a:t>
            </a:r>
          </a:p>
        </p:txBody>
      </p:sp>
    </p:spTree>
    <p:extLst>
      <p:ext uri="{BB962C8B-B14F-4D97-AF65-F5344CB8AC3E}">
        <p14:creationId xmlns:p14="http://schemas.microsoft.com/office/powerpoint/2010/main" val="4121764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285BF-6F20-0F27-C2E6-3273E8D4C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601"/>
            <a:ext cx="10515600" cy="1020615"/>
          </a:xfrm>
        </p:spPr>
        <p:txBody>
          <a:bodyPr/>
          <a:lstStyle/>
          <a:p>
            <a:pPr algn="ctr"/>
            <a:r>
              <a:rPr lang="vi-VN" dirty="0"/>
              <a:t>Concept of data type and variable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41E74-9FFF-79BB-A3EC-A4C10DFB2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216"/>
            <a:ext cx="10515600" cy="504574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is variable?</a:t>
            </a:r>
          </a:p>
          <a:p>
            <a:pPr lvl="1"/>
            <a:r>
              <a:rPr lang="en-US" dirty="0"/>
              <a:t>Variables are containers for storing data values.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data type?</a:t>
            </a:r>
          </a:p>
          <a:p>
            <a:pPr lvl="1"/>
            <a:r>
              <a:rPr lang="en-US" dirty="0"/>
              <a:t>A data type (variable type) defines what kind of data a variable can store and how much memory it needs.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variable name?</a:t>
            </a:r>
          </a:p>
          <a:p>
            <a:pPr lvl="1"/>
            <a:r>
              <a:rPr lang="en-US" dirty="0"/>
              <a:t>A variable name is a label used in programming to identify and refer to a storage location that holds a value. </a:t>
            </a:r>
            <a:endParaRPr lang="vi-VN" dirty="0"/>
          </a:p>
          <a:p>
            <a:pPr marL="514350" indent="-514350">
              <a:buFont typeface="+mj-lt"/>
              <a:buAutoNum type="arabicPeriod"/>
            </a:pPr>
            <a:r>
              <a:rPr lang="vi-VN" b="1" dirty="0"/>
              <a:t>Syntax</a:t>
            </a:r>
            <a:endParaRPr lang="en-US" b="1" dirty="0"/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vi-VN" dirty="0"/>
              <a:t>Example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6E9967-AE05-8B3A-96F2-99A8C081B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909528"/>
              </p:ext>
            </p:extLst>
          </p:nvPr>
        </p:nvGraphicFramePr>
        <p:xfrm>
          <a:off x="2032000" y="4938048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2377977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0" i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1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variableName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= </a:t>
                      </a:r>
                      <a:r>
                        <a:rPr lang="en-US" sz="1800" b="0" i="1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value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91535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920A8A2-04D4-2946-5FB9-0BB7EB44C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6063434"/>
            <a:ext cx="2068660" cy="47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5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DE62B-FDDA-2423-7BE2-EED3CE7D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256"/>
            <a:ext cx="10515600" cy="710300"/>
          </a:xfrm>
        </p:spPr>
        <p:txBody>
          <a:bodyPr/>
          <a:lstStyle/>
          <a:p>
            <a:pPr algn="ctr"/>
            <a:r>
              <a:rPr lang="en-US" dirty="0"/>
              <a:t>Data type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69E0E8-75A3-2723-2A22-4A8D44310F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8896810"/>
              </p:ext>
            </p:extLst>
          </p:nvPr>
        </p:nvGraphicFramePr>
        <p:xfrm>
          <a:off x="216817" y="1121789"/>
          <a:ext cx="11758366" cy="5209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9690">
                  <a:extLst>
                    <a:ext uri="{9D8B030D-6E8A-4147-A177-3AD203B41FA5}">
                      <a16:colId xmlns:a16="http://schemas.microsoft.com/office/drawing/2014/main" val="3285314087"/>
                    </a:ext>
                  </a:extLst>
                </a:gridCol>
                <a:gridCol w="678730">
                  <a:extLst>
                    <a:ext uri="{9D8B030D-6E8A-4147-A177-3AD203B41FA5}">
                      <a16:colId xmlns:a16="http://schemas.microsoft.com/office/drawing/2014/main" val="1141632238"/>
                    </a:ext>
                  </a:extLst>
                </a:gridCol>
                <a:gridCol w="1244338">
                  <a:extLst>
                    <a:ext uri="{9D8B030D-6E8A-4147-A177-3AD203B41FA5}">
                      <a16:colId xmlns:a16="http://schemas.microsoft.com/office/drawing/2014/main" val="884727762"/>
                    </a:ext>
                  </a:extLst>
                </a:gridCol>
                <a:gridCol w="3284696">
                  <a:extLst>
                    <a:ext uri="{9D8B030D-6E8A-4147-A177-3AD203B41FA5}">
                      <a16:colId xmlns:a16="http://schemas.microsoft.com/office/drawing/2014/main" val="3129027350"/>
                    </a:ext>
                  </a:extLst>
                </a:gridCol>
                <a:gridCol w="2720178">
                  <a:extLst>
                    <a:ext uri="{9D8B030D-6E8A-4147-A177-3AD203B41FA5}">
                      <a16:colId xmlns:a16="http://schemas.microsoft.com/office/drawing/2014/main" val="1101684950"/>
                    </a:ext>
                  </a:extLst>
                </a:gridCol>
                <a:gridCol w="2180734">
                  <a:extLst>
                    <a:ext uri="{9D8B030D-6E8A-4147-A177-3AD203B41FA5}">
                      <a16:colId xmlns:a16="http://schemas.microsoft.com/office/drawing/2014/main" val="2093007346"/>
                    </a:ext>
                  </a:extLst>
                </a:gridCol>
              </a:tblGrid>
              <a:tr h="4776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Type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Size (Bytes)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&lt;cstdint&gt; Format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Range of Values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7085838"/>
                  </a:ext>
                </a:extLst>
              </a:tr>
              <a:tr h="50269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 or false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Stores Boolean logic values.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bool isReady = true;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51827380"/>
                  </a:ext>
                </a:extLst>
              </a:tr>
              <a:tr h="4776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int8_t / uint8_t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-128 to 127 (signed), 0 to 255 (unsigned)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Stores a single character (ASCII).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 grade = 'A';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08172035"/>
                  </a:ext>
                </a:extLst>
              </a:tr>
              <a:tr h="4776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int16_t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-32,768 to 32,767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Short integer type (signed).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short s = -123;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48534562"/>
                  </a:ext>
                </a:extLst>
              </a:tr>
              <a:tr h="4776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unsigned short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uint16_t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to 65,535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Short integer (unsigned).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unsigned short us = 60000;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47396915"/>
                  </a:ext>
                </a:extLst>
              </a:tr>
              <a:tr h="4078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int32_t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-2,147,483,648 to 2,147,483,647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 integer type.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 count = 100;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23411738"/>
                  </a:ext>
                </a:extLst>
              </a:tr>
              <a:tr h="4776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unsigned int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uint32_t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to 4,294,967,295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Unsigned integer (no negatives).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unsigned int n = 5000;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82307366"/>
                  </a:ext>
                </a:extLst>
              </a:tr>
              <a:tr h="4776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 long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int64_t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-9,223,372,036,854,775,808 to 9,223,372,036,854,775,807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large integer.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 long big = 9000000000LL;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69758704"/>
                  </a:ext>
                </a:extLst>
              </a:tr>
              <a:tr h="4776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unsigned long long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uint64_t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to 18,446,744,073,709,551,615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large unsigned integer.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unsigned long long ubig = 18000000000ULL;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24459849"/>
                  </a:ext>
                </a:extLst>
              </a:tr>
              <a:tr h="4776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float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~±3.4 × 10^38 (9-10 digits precision)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Single-precision floating-point.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float temp = 36.6f;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393423786"/>
                  </a:ext>
                </a:extLst>
              </a:tr>
              <a:tr h="4776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double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~±1.7 × 10^308 (17-18 digits precision)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Double-precision floating-point.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double pi = 3.1415926535;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29679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4238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C906B-22CD-BF96-6FD1-1B4B2F69E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4945"/>
          </a:xfrm>
        </p:spPr>
        <p:txBody>
          <a:bodyPr/>
          <a:lstStyle/>
          <a:p>
            <a:pPr algn="ctr"/>
            <a:r>
              <a:rPr lang="en-US" dirty="0"/>
              <a:t>Rule on naming variable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49D139-A752-8D15-CCE8-DB116DB46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5941654"/>
              </p:ext>
            </p:extLst>
          </p:nvPr>
        </p:nvGraphicFramePr>
        <p:xfrm>
          <a:off x="838200" y="1225485"/>
          <a:ext cx="10515597" cy="52673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569880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2800069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83279472"/>
                    </a:ext>
                  </a:extLst>
                </a:gridCol>
              </a:tblGrid>
              <a:tr h="4026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Rule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  <a:endParaRPr lang="en-US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389867"/>
                  </a:ext>
                </a:extLst>
              </a:tr>
              <a:tr h="694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Must start with a letter or underscore (_)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variable name cannot start with a number.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age, _count </a:t>
                      </a:r>
                      <a:b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1value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3734013"/>
                  </a:ext>
                </a:extLst>
              </a:tr>
              <a:tr h="694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Can contain letters, digits, and underscores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Only these characters are allowed.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total_marks, number2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824226"/>
                  </a:ext>
                </a:extLst>
              </a:tr>
              <a:tr h="694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No spaces or special characters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cannot use spaces or symbols like @, #, $, etc.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total marks, price$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780885"/>
                  </a:ext>
                </a:extLst>
              </a:tr>
              <a:tr h="694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Case-sensitive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Uppercase and lowercase letters are treated differently.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≠ 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6582399"/>
                  </a:ext>
                </a:extLst>
              </a:tr>
              <a:tr h="694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 Cannot be a C++ keyword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cannot use reserved words like int, float, if, etc.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❌ int;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1276204"/>
                  </a:ext>
                </a:extLst>
              </a:tr>
              <a:tr h="694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 Should be meaningful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 names that describe the variable’s purpose.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</a:t>
                      </a:r>
                      <a:r>
                        <a:rPr lang="en-US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studentScore</a:t>
                      </a: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936646"/>
                  </a:ext>
                </a:extLst>
              </a:tr>
              <a:tr h="694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 No limit on length (but keep it readable)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Long names are allowed but not recommended.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✅ </a:t>
                      </a:r>
                      <a:r>
                        <a:rPr lang="en-US" sz="16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totalNumberOfStudents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508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9968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642</Words>
  <Application>Microsoft Office PowerPoint</Application>
  <PresentationFormat>Widescreen</PresentationFormat>
  <Paragraphs>114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Structure of a C++ Program</vt:lpstr>
      <vt:lpstr>The structure of C++ program</vt:lpstr>
      <vt:lpstr>Data type and variable in C++</vt:lpstr>
      <vt:lpstr>Concept of data type and variable</vt:lpstr>
      <vt:lpstr>Data type</vt:lpstr>
      <vt:lpstr>Rule on naming variable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Huy Than</dc:creator>
  <cp:lastModifiedBy>Huy Than</cp:lastModifiedBy>
  <cp:revision>4</cp:revision>
  <dcterms:created xsi:type="dcterms:W3CDTF">2025-11-07T16:25:34Z</dcterms:created>
  <dcterms:modified xsi:type="dcterms:W3CDTF">2025-11-09T05:31:22Z</dcterms:modified>
</cp:coreProperties>
</file>